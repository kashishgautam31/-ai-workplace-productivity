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65" r:id="rId3"/>
    <p:sldId id="258" r:id="rId4"/>
    <p:sldId id="259" r:id="rId5"/>
    <p:sldId id="260" r:id="rId6"/>
    <p:sldId id="261" r:id="rId7"/>
    <p:sldId id="262" r:id="rId8"/>
    <p:sldId id="263" r:id="rId9"/>
    <p:sldId id="264" r:id="rId10"/>
    <p:sldId id="267" r:id="rId11"/>
    <p:sldId id="269"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5356"/>
    <a:srgbClr val="9CA3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A30101-1767-7510-A38B-1A07E258EEC9}" v="15" dt="2024-09-12T11:01:42.653"/>
    <p1510:client id="{97747344-3520-6DBC-70FA-13935FCA73DE}" v="5" dt="2024-09-12T10:02:52.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291" y="85"/>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pita Roy" userId="1a89f5ea-4173-41b8-bbd3-e7bd3860e0db" providerId="ADAL" clId="{9C117E5F-4B76-441E-BA45-7E441C4B5FAE}"/>
    <pc:docChg chg="addSld delSld modSld">
      <pc:chgData name="Arpita Roy" userId="1a89f5ea-4173-41b8-bbd3-e7bd3860e0db" providerId="ADAL" clId="{9C117E5F-4B76-441E-BA45-7E441C4B5FAE}" dt="2024-09-12T10:53:24.011" v="58" actId="2696"/>
      <pc:docMkLst>
        <pc:docMk/>
      </pc:docMkLst>
      <pc:sldChg chg="modSp del">
        <pc:chgData name="Arpita Roy" userId="1a89f5ea-4173-41b8-bbd3-e7bd3860e0db" providerId="ADAL" clId="{9C117E5F-4B76-441E-BA45-7E441C4B5FAE}" dt="2024-09-12T10:53:24.011" v="58" actId="2696"/>
        <pc:sldMkLst>
          <pc:docMk/>
          <pc:sldMk cId="1189884346" sldId="257"/>
        </pc:sldMkLst>
        <pc:graphicFrameChg chg="mod">
          <ac:chgData name="Arpita Roy" userId="1a89f5ea-4173-41b8-bbd3-e7bd3860e0db" providerId="ADAL" clId="{9C117E5F-4B76-441E-BA45-7E441C4B5FAE}" dt="2024-09-12T10:51:19.182" v="52" actId="207"/>
          <ac:graphicFrameMkLst>
            <pc:docMk/>
            <pc:sldMk cId="1189884346" sldId="257"/>
            <ac:graphicFrameMk id="5" creationId="{E2F6407E-AAD2-A4D5-4610-A42FBD9CB175}"/>
          </ac:graphicFrameMkLst>
        </pc:graphicFrameChg>
      </pc:sldChg>
      <pc:sldChg chg="addSp modSp add mod">
        <pc:chgData name="Arpita Roy" userId="1a89f5ea-4173-41b8-bbd3-e7bd3860e0db" providerId="ADAL" clId="{9C117E5F-4B76-441E-BA45-7E441C4B5FAE}" dt="2024-09-12T10:53:12.092" v="57" actId="13782"/>
        <pc:sldMkLst>
          <pc:docMk/>
          <pc:sldMk cId="2883350127" sldId="270"/>
        </pc:sldMkLst>
        <pc:spChg chg="add mod">
          <ac:chgData name="Arpita Roy" userId="1a89f5ea-4173-41b8-bbd3-e7bd3860e0db" providerId="ADAL" clId="{9C117E5F-4B76-441E-BA45-7E441C4B5FAE}" dt="2024-09-12T10:51:27.880" v="53" actId="207"/>
          <ac:spMkLst>
            <pc:docMk/>
            <pc:sldMk cId="2883350127" sldId="270"/>
            <ac:spMk id="6" creationId="{3BD57785-5D15-79E9-3ECF-86C512858270}"/>
          </ac:spMkLst>
        </pc:spChg>
        <pc:spChg chg="add mod">
          <ac:chgData name="Arpita Roy" userId="1a89f5ea-4173-41b8-bbd3-e7bd3860e0db" providerId="ADAL" clId="{9C117E5F-4B76-441E-BA45-7E441C4B5FAE}" dt="2024-09-12T10:51:27.880" v="53" actId="207"/>
          <ac:spMkLst>
            <pc:docMk/>
            <pc:sldMk cId="2883350127" sldId="270"/>
            <ac:spMk id="7" creationId="{6E193F18-9816-2134-C79C-11FDD5C0D8D5}"/>
          </ac:spMkLst>
        </pc:spChg>
        <pc:grpChg chg="add mod">
          <ac:chgData name="Arpita Roy" userId="1a89f5ea-4173-41b8-bbd3-e7bd3860e0db" providerId="ADAL" clId="{9C117E5F-4B76-441E-BA45-7E441C4B5FAE}" dt="2024-09-12T10:51:27.880" v="53" actId="207"/>
          <ac:grpSpMkLst>
            <pc:docMk/>
            <pc:sldMk cId="2883350127" sldId="270"/>
            <ac:grpSpMk id="4" creationId="{7BCE0D83-DF72-32F8-B5DD-EE783615D5F8}"/>
          </ac:grpSpMkLst>
        </pc:grpChg>
        <pc:graphicFrameChg chg="add mod modGraphic">
          <ac:chgData name="Arpita Roy" userId="1a89f5ea-4173-41b8-bbd3-e7bd3860e0db" providerId="ADAL" clId="{9C117E5F-4B76-441E-BA45-7E441C4B5FAE}" dt="2024-09-12T10:53:12.092" v="57" actId="13782"/>
          <ac:graphicFrameMkLst>
            <pc:docMk/>
            <pc:sldMk cId="2883350127" sldId="270"/>
            <ac:graphicFrameMk id="3" creationId="{B8CED378-0A86-9823-1D3F-9B4061B1FE95}"/>
          </ac:graphicFrameMkLst>
        </pc:graphicFrameChg>
        <pc:graphicFrameChg chg="mod">
          <ac:chgData name="Arpita Roy" userId="1a89f5ea-4173-41b8-bbd3-e7bd3860e0db" providerId="ADAL" clId="{9C117E5F-4B76-441E-BA45-7E441C4B5FAE}" dt="2024-09-12T10:49:32.462" v="30" actId="14100"/>
          <ac:graphicFrameMkLst>
            <pc:docMk/>
            <pc:sldMk cId="2883350127" sldId="270"/>
            <ac:graphicFrameMk id="5" creationId="{E2F6407E-AAD2-A4D5-4610-A42FBD9CB175}"/>
          </ac:graphicFrameMkLst>
        </pc:graphicFrameChg>
      </pc:sldChg>
    </pc:docChg>
  </pc:docChgLst>
  <pc:docChgLst>
    <pc:chgData name="Guest User" userId="S::urn:spo:anon#346b1cb35b4c7a56675b0f6e40624df9e88e9046cf9a7f5cb11d79da4fea2842::" providerId="AD" clId="Web-{97747344-3520-6DBC-70FA-13935FCA73DE}"/>
    <pc:docChg chg="modSld">
      <pc:chgData name="Guest User" userId="S::urn:spo:anon#346b1cb35b4c7a56675b0f6e40624df9e88e9046cf9a7f5cb11d79da4fea2842::" providerId="AD" clId="Web-{97747344-3520-6DBC-70FA-13935FCA73DE}" dt="2024-09-12T10:02:52.776" v="4" actId="20577"/>
      <pc:docMkLst>
        <pc:docMk/>
      </pc:docMkLst>
      <pc:sldChg chg="modSp">
        <pc:chgData name="Guest User" userId="S::urn:spo:anon#346b1cb35b4c7a56675b0f6e40624df9e88e9046cf9a7f5cb11d79da4fea2842::" providerId="AD" clId="Web-{97747344-3520-6DBC-70FA-13935FCA73DE}" dt="2024-09-12T10:02:52.776" v="4" actId="20577"/>
        <pc:sldMkLst>
          <pc:docMk/>
          <pc:sldMk cId="3130655203" sldId="263"/>
        </pc:sldMkLst>
        <pc:spChg chg="mod">
          <ac:chgData name="Guest User" userId="S::urn:spo:anon#346b1cb35b4c7a56675b0f6e40624df9e88e9046cf9a7f5cb11d79da4fea2842::" providerId="AD" clId="Web-{97747344-3520-6DBC-70FA-13935FCA73DE}" dt="2024-09-12T10:02:52.776" v="4" actId="20577"/>
          <ac:spMkLst>
            <pc:docMk/>
            <pc:sldMk cId="3130655203" sldId="263"/>
            <ac:spMk id="2" creationId="{1EEEA8E4-2B1A-430A-A41B-30AE8D1A7E78}"/>
          </ac:spMkLst>
        </pc:spChg>
      </pc:sldChg>
    </pc:docChg>
  </pc:docChgLst>
  <pc:docChgLst>
    <pc:chgData name="Arpita Roy" userId="S::arpita@edunetfoundation.org::1a89f5ea-4173-41b8-bbd3-e7bd3860e0db" providerId="AD" clId="Web-{2AA30101-1767-7510-A38B-1A07E258EEC9}"/>
    <pc:docChg chg="modSld">
      <pc:chgData name="Arpita Roy" userId="S::arpita@edunetfoundation.org::1a89f5ea-4173-41b8-bbd3-e7bd3860e0db" providerId="AD" clId="Web-{2AA30101-1767-7510-A38B-1A07E258EEC9}" dt="2024-09-12T11:01:42.653" v="12"/>
      <pc:docMkLst>
        <pc:docMk/>
      </pc:docMkLst>
      <pc:sldChg chg="modSp">
        <pc:chgData name="Arpita Roy" userId="S::arpita@edunetfoundation.org::1a89f5ea-4173-41b8-bbd3-e7bd3860e0db" providerId="AD" clId="Web-{2AA30101-1767-7510-A38B-1A07E258EEC9}" dt="2024-09-12T11:01:33.575" v="11"/>
        <pc:sldMkLst>
          <pc:docMk/>
          <pc:sldMk cId="2277255098" sldId="268"/>
        </pc:sldMkLst>
        <pc:spChg chg="mod">
          <ac:chgData name="Arpita Roy" userId="S::arpita@edunetfoundation.org::1a89f5ea-4173-41b8-bbd3-e7bd3860e0db" providerId="AD" clId="Web-{2AA30101-1767-7510-A38B-1A07E258EEC9}" dt="2024-09-12T11:01:33.575" v="11"/>
          <ac:spMkLst>
            <pc:docMk/>
            <pc:sldMk cId="2277255098" sldId="268"/>
            <ac:spMk id="18" creationId="{2AEFFFF2-9EB4-4B6C-B9F8-2BA3EF89A21C}"/>
          </ac:spMkLst>
        </pc:spChg>
      </pc:sldChg>
      <pc:sldChg chg="modSp">
        <pc:chgData name="Arpita Roy" userId="S::arpita@edunetfoundation.org::1a89f5ea-4173-41b8-bbd3-e7bd3860e0db" providerId="AD" clId="Web-{2AA30101-1767-7510-A38B-1A07E258EEC9}" dt="2024-09-12T10:54:12.181" v="10" actId="20577"/>
        <pc:sldMkLst>
          <pc:docMk/>
          <pc:sldMk cId="2900703761" sldId="269"/>
        </pc:sldMkLst>
        <pc:spChg chg="mod">
          <ac:chgData name="Arpita Roy" userId="S::arpita@edunetfoundation.org::1a89f5ea-4173-41b8-bbd3-e7bd3860e0db" providerId="AD" clId="Web-{2AA30101-1767-7510-A38B-1A07E258EEC9}" dt="2024-09-12T10:54:12.181" v="10" actId="20577"/>
          <ac:spMkLst>
            <pc:docMk/>
            <pc:sldMk cId="2900703761" sldId="269"/>
            <ac:spMk id="2" creationId="{9B5131FA-8D36-492B-8E16-2BB465AADDDF}"/>
          </ac:spMkLst>
        </pc:spChg>
      </pc:sldChg>
      <pc:sldChg chg="modSp">
        <pc:chgData name="Arpita Roy" userId="S::arpita@edunetfoundation.org::1a89f5ea-4173-41b8-bbd3-e7bd3860e0db" providerId="AD" clId="Web-{2AA30101-1767-7510-A38B-1A07E258EEC9}" dt="2024-09-12T11:01:42.653" v="12"/>
        <pc:sldMkLst>
          <pc:docMk/>
          <pc:sldMk cId="2883350127" sldId="270"/>
        </pc:sldMkLst>
        <pc:spChg chg="mod">
          <ac:chgData name="Arpita Roy" userId="S::arpita@edunetfoundation.org::1a89f5ea-4173-41b8-bbd3-e7bd3860e0db" providerId="AD" clId="Web-{2AA30101-1767-7510-A38B-1A07E258EEC9}" dt="2024-09-12T11:01:42.653" v="12"/>
          <ac:spMkLst>
            <pc:docMk/>
            <pc:sldMk cId="2883350127" sldId="270"/>
            <ac:spMk id="20" creationId="{4E866FF9-A729-45F0-A163-10E89E87160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p:txBody>
          <a:bodyPr/>
          <a:lstStyle/>
          <a:p>
            <a:fld id="{1160EA64-D806-43AC-9DF2-F8C432F32B4C}" type="datetimeFigureOut">
              <a:rPr lang="en-US" dirty="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val="223506541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070A7B3-6521-4DCA-87E5-044747A908C1}" type="datetimeFigureOut">
              <a:rPr lang="en-US" dirty="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val="1312252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val="233394254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AB134690-1557-4C89-A502-4959FE7FAD70}" type="datetimeFigureOut">
              <a:rPr lang="en-US" dirty="0"/>
              <a:t>2/24/2026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3020116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34360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1037C31-9E7A-4F99-8774-A0E530DE1A42}" type="datetimeFigureOut">
              <a:rPr lang="en-US" dirty="0"/>
              <a:t>2/24/2026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3393314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3552716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2/24/2026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1906517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2/24/2026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2422522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F9C37B-1D36-470B-8223-D6C91242EC14}" type="datetimeFigureOut">
              <a:rPr lang="en-US" dirty="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1448648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C6F52A-A82B-47A2-A83A-8C4C91F2D59F}" type="datetimeFigureOut">
              <a:rPr lang="en-US" dirty="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241702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2/24/2026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a:p>
        </p:txBody>
      </p:sp>
    </p:spTree>
    <p:extLst>
      <p:ext uri="{BB962C8B-B14F-4D97-AF65-F5344CB8AC3E}">
        <p14:creationId xmlns:p14="http://schemas.microsoft.com/office/powerpoint/2010/main" val="3993068660"/>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7D3A4E0-C908-4EA9-ABDF-E82AD6BDEF9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15DF57-098C-4FCB-B7A8-E497E9B6043E}"/>
              </a:ext>
            </a:extLst>
          </p:cNvPr>
          <p:cNvSpPr>
            <a:spLocks noGrp="1"/>
          </p:cNvSpPr>
          <p:nvPr>
            <p:ph type="ctrTitle"/>
          </p:nvPr>
        </p:nvSpPr>
        <p:spPr>
          <a:xfrm>
            <a:off x="1600200" y="2363323"/>
            <a:ext cx="8991600" cy="1692771"/>
          </a:xfrm>
        </p:spPr>
        <p:txBody>
          <a:bodyPr vert="horz" lIns="182880" tIns="182880" rIns="182880" bIns="182880" rtlCol="0">
            <a:normAutofit/>
          </a:bodyPr>
          <a:lstStyle/>
          <a:p>
            <a:r>
              <a:rPr lang="en-IN" sz="4000" b="1" i="1" dirty="0">
                <a:solidFill>
                  <a:srgbClr val="7030A0"/>
                </a:solidFill>
                <a:latin typeface="Baskerville Old Face" panose="02020602080505020303" pitchFamily="18" charset="0"/>
              </a:rPr>
              <a:t>AI Workplace Productivity</a:t>
            </a:r>
            <a:endParaRPr lang="en-US" sz="4000" b="1" i="1" kern="1200" cap="all" spc="200" baseline="0" dirty="0">
              <a:solidFill>
                <a:srgbClr val="7030A0"/>
              </a:solidFill>
              <a:latin typeface="Baskerville Old Face" panose="02020602080505020303" pitchFamily="18" charset="0"/>
            </a:endParaRPr>
          </a:p>
        </p:txBody>
      </p:sp>
    </p:spTree>
    <p:extLst>
      <p:ext uri="{BB962C8B-B14F-4D97-AF65-F5344CB8AC3E}">
        <p14:creationId xmlns:p14="http://schemas.microsoft.com/office/powerpoint/2010/main" val="980543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C86B1-7C33-4A37-A176-9016ACFEE5C4}"/>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sz="2100" dirty="0">
                <a:solidFill>
                  <a:srgbClr val="FFFFFF"/>
                </a:solidFill>
              </a:rPr>
              <a:t>The Background</a:t>
            </a:r>
          </a:p>
        </p:txBody>
      </p:sp>
      <p:sp>
        <p:nvSpPr>
          <p:cNvPr id="3" name="Content Placeholder 2">
            <a:extLst>
              <a:ext uri="{FF2B5EF4-FFF2-40B4-BE49-F238E27FC236}">
                <a16:creationId xmlns:a16="http://schemas.microsoft.com/office/drawing/2014/main" id="{DEFFB6BC-B8A2-4F6A-861D-C36B251B727B}"/>
              </a:ext>
            </a:extLst>
          </p:cNvPr>
          <p:cNvSpPr>
            <a:spLocks noGrp="1"/>
          </p:cNvSpPr>
          <p:nvPr>
            <p:ph idx="1"/>
          </p:nvPr>
        </p:nvSpPr>
        <p:spPr>
          <a:xfrm>
            <a:off x="5568778" y="807308"/>
            <a:ext cx="6087763" cy="4983892"/>
          </a:xfrm>
        </p:spPr>
        <p:txBody>
          <a:bodyPr anchor="ctr">
            <a:normAutofit lnSpcReduction="10000"/>
          </a:bodyPr>
          <a:lstStyle/>
          <a:p>
            <a:endParaRPr lang="en-US" sz="2400" b="1" dirty="0" smtClean="0">
              <a:latin typeface="Baskerville Old Face" panose="02020602080505020303" pitchFamily="18" charset="0"/>
            </a:endParaRPr>
          </a:p>
          <a:p>
            <a:r>
              <a:rPr lang="en-US" sz="2400" b="1" dirty="0" smtClean="0">
                <a:latin typeface="Baskerville Old Face" panose="02020602080505020303" pitchFamily="18" charset="0"/>
              </a:rPr>
              <a:t>Rapid </a:t>
            </a:r>
            <a:r>
              <a:rPr lang="en-US" sz="2400" b="1" dirty="0">
                <a:latin typeface="Baskerville Old Face" panose="02020602080505020303" pitchFamily="18" charset="0"/>
              </a:rPr>
              <a:t>adoption of Artificial Intelligence in modern </a:t>
            </a:r>
            <a:r>
              <a:rPr lang="en-US" sz="2400" b="1" dirty="0" smtClean="0">
                <a:latin typeface="Baskerville Old Face" panose="02020602080505020303" pitchFamily="18" charset="0"/>
              </a:rPr>
              <a:t>workplaces</a:t>
            </a:r>
          </a:p>
          <a:p>
            <a:r>
              <a:rPr lang="en-US" sz="2400" b="1" dirty="0">
                <a:latin typeface="Baskerville Old Face" panose="02020602080505020303" pitchFamily="18" charset="0"/>
              </a:rPr>
              <a:t>Increasing need to measure employee </a:t>
            </a:r>
            <a:r>
              <a:rPr lang="en-US" sz="2400" b="1" dirty="0" smtClean="0">
                <a:latin typeface="Baskerville Old Face" panose="02020602080505020303" pitchFamily="18" charset="0"/>
              </a:rPr>
              <a:t>productivity</a:t>
            </a:r>
          </a:p>
          <a:p>
            <a:pPr lvl="0"/>
            <a:r>
              <a:rPr lang="en-US" altLang="en-US" sz="2400" b="1" dirty="0">
                <a:solidFill>
                  <a:schemeClr val="tx1"/>
                </a:solidFill>
                <a:latin typeface="Baskerville Old Face" panose="02020602080505020303" pitchFamily="18" charset="0"/>
              </a:rPr>
              <a:t>Growing concerns about burnout and workload </a:t>
            </a:r>
            <a:r>
              <a:rPr lang="en-US" altLang="en-US" sz="2400" b="1" dirty="0" smtClean="0">
                <a:solidFill>
                  <a:schemeClr val="tx1"/>
                </a:solidFill>
                <a:latin typeface="Baskerville Old Face" panose="02020602080505020303" pitchFamily="18" charset="0"/>
              </a:rPr>
              <a:t>imbalance</a:t>
            </a:r>
          </a:p>
          <a:p>
            <a:r>
              <a:rPr lang="en-US" altLang="en-US" sz="2400" b="1" dirty="0">
                <a:solidFill>
                  <a:schemeClr val="tx1"/>
                </a:solidFill>
                <a:latin typeface="Baskerville Old Face" panose="02020602080505020303" pitchFamily="18" charset="0"/>
              </a:rPr>
              <a:t>Organizations require data-driven performance monitoring </a:t>
            </a:r>
            <a:r>
              <a:rPr lang="en-US" altLang="en-US" sz="2400" b="1" dirty="0" smtClean="0">
                <a:solidFill>
                  <a:schemeClr val="tx1"/>
                </a:solidFill>
                <a:latin typeface="Baskerville Old Face" panose="02020602080505020303" pitchFamily="18" charset="0"/>
              </a:rPr>
              <a:t>systems</a:t>
            </a:r>
          </a:p>
          <a:p>
            <a:r>
              <a:rPr lang="en-US" sz="2400" b="1" dirty="0" smtClean="0">
                <a:latin typeface="Baskerville Old Face" panose="02020602080505020303" pitchFamily="18" charset="0"/>
              </a:rPr>
              <a:t>Measuring </a:t>
            </a:r>
            <a:r>
              <a:rPr lang="en-US" sz="2400" b="1" dirty="0">
                <a:latin typeface="Baskerville Old Face" panose="02020602080505020303" pitchFamily="18" charset="0"/>
              </a:rPr>
              <a:t>the real impact of AI on productivity, employee workload, and burnout risk remains a strategic challenge.</a:t>
            </a:r>
            <a:endParaRPr lang="en-US" altLang="en-US" sz="2400" b="1" dirty="0">
              <a:solidFill>
                <a:schemeClr val="tx1"/>
              </a:solidFill>
              <a:latin typeface="Baskerville Old Face" panose="02020602080505020303" pitchFamily="18" charset="0"/>
            </a:endParaRPr>
          </a:p>
          <a:p>
            <a:pPr lvl="0"/>
            <a:endParaRPr lang="en-US" altLang="en-US" sz="2000" dirty="0">
              <a:solidFill>
                <a:schemeClr val="tx1"/>
              </a:solidFill>
              <a:latin typeface="Arial" panose="020B0604020202020204" pitchFamily="34" charset="0"/>
            </a:endParaRPr>
          </a:p>
          <a:p>
            <a:endParaRPr lang="en-IN" dirty="0"/>
          </a:p>
        </p:txBody>
      </p:sp>
    </p:spTree>
    <p:extLst>
      <p:ext uri="{BB962C8B-B14F-4D97-AF65-F5344CB8AC3E}">
        <p14:creationId xmlns:p14="http://schemas.microsoft.com/office/powerpoint/2010/main" val="3784711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B94EB9-4981-4B64-BA7E-735F6CAD4324}"/>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dirty="0">
                <a:solidFill>
                  <a:srgbClr val="FFFFFF"/>
                </a:solidFill>
              </a:rPr>
              <a:t>Problem Statement</a:t>
            </a:r>
          </a:p>
        </p:txBody>
      </p:sp>
      <p:sp>
        <p:nvSpPr>
          <p:cNvPr id="3" name="Content Placeholder 2">
            <a:extLst>
              <a:ext uri="{FF2B5EF4-FFF2-40B4-BE49-F238E27FC236}">
                <a16:creationId xmlns:a16="http://schemas.microsoft.com/office/drawing/2014/main" id="{2473D968-550A-45A2-B636-4D6F7BFB4421}"/>
              </a:ext>
            </a:extLst>
          </p:cNvPr>
          <p:cNvSpPr>
            <a:spLocks noGrp="1"/>
          </p:cNvSpPr>
          <p:nvPr>
            <p:ph idx="1"/>
          </p:nvPr>
        </p:nvSpPr>
        <p:spPr>
          <a:xfrm>
            <a:off x="5591695" y="1402080"/>
            <a:ext cx="5320696" cy="4053840"/>
          </a:xfrm>
        </p:spPr>
        <p:txBody>
          <a:bodyPr anchor="ctr"/>
          <a:lstStyle/>
          <a:p>
            <a:r>
              <a:rPr lang="en-US" dirty="0">
                <a:latin typeface="Arial Rounded MT Bold" panose="020F0704030504030204" pitchFamily="34" charset="0"/>
              </a:rPr>
              <a:t>Increasing manual workload reduces operational </a:t>
            </a:r>
            <a:r>
              <a:rPr lang="en-US" dirty="0" smtClean="0">
                <a:latin typeface="Arial Rounded MT Bold" panose="020F0704030504030204" pitchFamily="34" charset="0"/>
              </a:rPr>
              <a:t>efficiency</a:t>
            </a:r>
          </a:p>
          <a:p>
            <a:r>
              <a:rPr lang="en-US" dirty="0">
                <a:latin typeface="Arial Rounded MT Bold" panose="020F0704030504030204" pitchFamily="34" charset="0"/>
              </a:rPr>
              <a:t>Excessive meetings impact focus </a:t>
            </a:r>
            <a:r>
              <a:rPr lang="en-US" dirty="0" smtClean="0">
                <a:latin typeface="Arial Rounded MT Bold" panose="020F0704030504030204" pitchFamily="34" charset="0"/>
              </a:rPr>
              <a:t>hours</a:t>
            </a:r>
          </a:p>
          <a:p>
            <a:r>
              <a:rPr lang="en-US" dirty="0">
                <a:latin typeface="Arial Rounded MT Bold" panose="020F0704030504030204" pitchFamily="34" charset="0"/>
              </a:rPr>
              <a:t>Rising burnout risk among </a:t>
            </a:r>
            <a:r>
              <a:rPr lang="en-US" dirty="0" smtClean="0">
                <a:latin typeface="Arial Rounded MT Bold" panose="020F0704030504030204" pitchFamily="34" charset="0"/>
              </a:rPr>
              <a:t>employees</a:t>
            </a:r>
          </a:p>
          <a:p>
            <a:r>
              <a:rPr lang="en-US" dirty="0">
                <a:latin typeface="Arial Rounded MT Bold" panose="020F0704030504030204" pitchFamily="34" charset="0"/>
              </a:rPr>
              <a:t>High meeting hours reduce deep work </a:t>
            </a:r>
            <a:r>
              <a:rPr lang="en-US" dirty="0" smtClean="0">
                <a:latin typeface="Arial Rounded MT Bold" panose="020F0704030504030204" pitchFamily="34" charset="0"/>
              </a:rPr>
              <a:t>focus</a:t>
            </a:r>
          </a:p>
          <a:p>
            <a:r>
              <a:rPr lang="en-US" dirty="0">
                <a:latin typeface="Arial Rounded MT Bold" panose="020F0704030504030204" pitchFamily="34" charset="0"/>
              </a:rPr>
              <a:t>Leadership lacks a centralized productivity monitoring system</a:t>
            </a:r>
            <a:endParaRPr lang="en-IN" dirty="0">
              <a:latin typeface="Arial Rounded MT Bold" panose="020F0704030504030204" pitchFamily="34" charset="0"/>
            </a:endParaRPr>
          </a:p>
        </p:txBody>
      </p:sp>
    </p:spTree>
    <p:extLst>
      <p:ext uri="{BB962C8B-B14F-4D97-AF65-F5344CB8AC3E}">
        <p14:creationId xmlns:p14="http://schemas.microsoft.com/office/powerpoint/2010/main" val="102367698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B347B7-4FBF-466B-B290-31F20EBCD3F1}"/>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sz="3000" dirty="0">
                <a:solidFill>
                  <a:srgbClr val="FFFFFF"/>
                </a:solidFill>
              </a:rPr>
              <a:t>Proposed Solution</a:t>
            </a:r>
          </a:p>
        </p:txBody>
      </p:sp>
      <p:sp>
        <p:nvSpPr>
          <p:cNvPr id="3" name="Content Placeholder 2">
            <a:extLst>
              <a:ext uri="{FF2B5EF4-FFF2-40B4-BE49-F238E27FC236}">
                <a16:creationId xmlns:a16="http://schemas.microsoft.com/office/drawing/2014/main" id="{C46ED790-B911-4363-9E4B-39B6B5FCE59E}"/>
              </a:ext>
            </a:extLst>
          </p:cNvPr>
          <p:cNvSpPr>
            <a:spLocks noGrp="1"/>
          </p:cNvSpPr>
          <p:nvPr>
            <p:ph idx="1"/>
          </p:nvPr>
        </p:nvSpPr>
        <p:spPr>
          <a:xfrm>
            <a:off x="5591695" y="1402080"/>
            <a:ext cx="5320696" cy="4053840"/>
          </a:xfrm>
        </p:spPr>
        <p:txBody>
          <a:bodyPr anchor="ctr"/>
          <a:lstStyle/>
          <a:p>
            <a:r>
              <a:rPr lang="en-US" dirty="0">
                <a:latin typeface="Arial Narrow" panose="020B0606020202030204" pitchFamily="34" charset="0"/>
              </a:rPr>
              <a:t>Develop an interactive </a:t>
            </a:r>
            <a:r>
              <a:rPr lang="en-US" b="1" dirty="0">
                <a:latin typeface="Arial Narrow" panose="020B0606020202030204" pitchFamily="34" charset="0"/>
              </a:rPr>
              <a:t>AI Productivity </a:t>
            </a:r>
            <a:r>
              <a:rPr lang="en-US" dirty="0" smtClean="0">
                <a:latin typeface="Arial Narrow" panose="020B0606020202030204" pitchFamily="34" charset="0"/>
              </a:rPr>
              <a:t>Dashboard Track </a:t>
            </a:r>
            <a:r>
              <a:rPr lang="en-US" dirty="0">
                <a:latin typeface="Arial Narrow" panose="020B0606020202030204" pitchFamily="34" charset="0"/>
              </a:rPr>
              <a:t>automation vs manual </a:t>
            </a:r>
            <a:r>
              <a:rPr lang="en-US" dirty="0" smtClean="0">
                <a:latin typeface="Arial Narrow" panose="020B0606020202030204" pitchFamily="34" charset="0"/>
              </a:rPr>
              <a:t>workload.</a:t>
            </a:r>
          </a:p>
          <a:p>
            <a:r>
              <a:rPr lang="en-US" altLang="en-US" dirty="0">
                <a:solidFill>
                  <a:schemeClr val="tx1"/>
                </a:solidFill>
                <a:latin typeface="Arial Narrow" panose="020B0606020202030204" pitchFamily="34" charset="0"/>
              </a:rPr>
              <a:t>Measure burnout risk </a:t>
            </a:r>
            <a:r>
              <a:rPr lang="en-US" altLang="en-US" dirty="0" smtClean="0">
                <a:solidFill>
                  <a:schemeClr val="tx1"/>
                </a:solidFill>
                <a:latin typeface="Arial Narrow" panose="020B0606020202030204" pitchFamily="34" charset="0"/>
              </a:rPr>
              <a:t>indicators Monitor </a:t>
            </a:r>
            <a:r>
              <a:rPr lang="en-US" altLang="en-US" dirty="0">
                <a:solidFill>
                  <a:schemeClr val="tx1"/>
                </a:solidFill>
                <a:latin typeface="Arial Narrow" panose="020B0606020202030204" pitchFamily="34" charset="0"/>
              </a:rPr>
              <a:t>focus hours and meeting </a:t>
            </a:r>
            <a:r>
              <a:rPr lang="en-US" altLang="en-US" dirty="0" smtClean="0">
                <a:solidFill>
                  <a:schemeClr val="tx1"/>
                </a:solidFill>
                <a:latin typeface="Arial Narrow" panose="020B0606020202030204" pitchFamily="34" charset="0"/>
              </a:rPr>
              <a:t>time.</a:t>
            </a:r>
            <a:endParaRPr lang="en-US" altLang="en-US" dirty="0">
              <a:solidFill>
                <a:schemeClr val="tx1"/>
              </a:solidFill>
              <a:latin typeface="Arial Narrow" panose="020B0606020202030204" pitchFamily="34" charset="0"/>
            </a:endParaRPr>
          </a:p>
          <a:p>
            <a:pPr lvl="0"/>
            <a:r>
              <a:rPr lang="en-IN" dirty="0">
                <a:latin typeface="Arial Narrow" panose="020B0606020202030204" pitchFamily="34" charset="0"/>
              </a:rPr>
              <a:t>Measures AI-driven task </a:t>
            </a:r>
            <a:r>
              <a:rPr lang="en-IN" dirty="0" smtClean="0">
                <a:latin typeface="Arial Narrow" panose="020B0606020202030204" pitchFamily="34" charset="0"/>
              </a:rPr>
              <a:t>automation </a:t>
            </a:r>
            <a:r>
              <a:rPr lang="en-US" dirty="0">
                <a:latin typeface="Arial Narrow" panose="020B0606020202030204" pitchFamily="34" charset="0"/>
              </a:rPr>
              <a:t>Tracks productivity score in </a:t>
            </a:r>
            <a:r>
              <a:rPr lang="en-US" dirty="0" smtClean="0">
                <a:latin typeface="Arial Narrow" panose="020B0606020202030204" pitchFamily="34" charset="0"/>
              </a:rPr>
              <a:t>real-time.</a:t>
            </a:r>
          </a:p>
          <a:p>
            <a:pPr lvl="0"/>
            <a:r>
              <a:rPr lang="en-US" dirty="0">
                <a:latin typeface="Arial Narrow" panose="020B0606020202030204" pitchFamily="34" charset="0"/>
              </a:rPr>
              <a:t>Analyzes burnout and workload </a:t>
            </a:r>
            <a:r>
              <a:rPr lang="en-US" dirty="0" smtClean="0">
                <a:latin typeface="Arial Narrow" panose="020B0606020202030204" pitchFamily="34" charset="0"/>
              </a:rPr>
              <a:t>patterns Enables </a:t>
            </a:r>
            <a:r>
              <a:rPr lang="en-US" dirty="0">
                <a:latin typeface="Arial Narrow" panose="020B0606020202030204" pitchFamily="34" charset="0"/>
              </a:rPr>
              <a:t>interactive filtering for deeper </a:t>
            </a:r>
            <a:r>
              <a:rPr lang="en-US" dirty="0" smtClean="0">
                <a:latin typeface="Arial Narrow" panose="020B0606020202030204" pitchFamily="34" charset="0"/>
              </a:rPr>
              <a:t>insights.</a:t>
            </a:r>
          </a:p>
          <a:p>
            <a:pPr lvl="0"/>
            <a:r>
              <a:rPr lang="en-US" dirty="0">
                <a:latin typeface="Arial Narrow" panose="020B0606020202030204" pitchFamily="34" charset="0"/>
              </a:rPr>
              <a:t>Support management with actionable </a:t>
            </a:r>
            <a:r>
              <a:rPr lang="en-US" dirty="0" smtClean="0">
                <a:latin typeface="Arial Narrow" panose="020B0606020202030204" pitchFamily="34" charset="0"/>
              </a:rPr>
              <a:t>insights </a:t>
            </a:r>
            <a:r>
              <a:rPr lang="en-US" dirty="0" err="1" smtClean="0">
                <a:latin typeface="Arial Narrow" panose="020B0606020202030204" pitchFamily="34" charset="0"/>
              </a:rPr>
              <a:t>i</a:t>
            </a:r>
            <a:r>
              <a:rPr lang="en-IN" dirty="0" err="1" smtClean="0">
                <a:latin typeface="Arial Narrow" panose="020B0606020202030204" pitchFamily="34" charset="0"/>
              </a:rPr>
              <a:t>dentify</a:t>
            </a:r>
            <a:r>
              <a:rPr lang="en-IN" dirty="0" smtClean="0">
                <a:latin typeface="Arial Narrow" panose="020B0606020202030204" pitchFamily="34" charset="0"/>
              </a:rPr>
              <a:t> </a:t>
            </a:r>
            <a:r>
              <a:rPr lang="en-IN" dirty="0">
                <a:latin typeface="Arial Narrow" panose="020B0606020202030204" pitchFamily="34" charset="0"/>
              </a:rPr>
              <a:t>burnout risk </a:t>
            </a:r>
            <a:r>
              <a:rPr lang="en-IN" dirty="0" smtClean="0">
                <a:latin typeface="Arial Narrow" panose="020B0606020202030204" pitchFamily="34" charset="0"/>
              </a:rPr>
              <a:t>patterns.</a:t>
            </a:r>
            <a:endParaRPr lang="en-US" altLang="en-US" dirty="0">
              <a:solidFill>
                <a:schemeClr val="tx1"/>
              </a:solidFill>
              <a:latin typeface="Arial Narrow" panose="020B0606020202030204" pitchFamily="34" charset="0"/>
            </a:endParaRPr>
          </a:p>
          <a:p>
            <a:endParaRPr lang="en-IN" dirty="0"/>
          </a:p>
        </p:txBody>
      </p:sp>
    </p:spTree>
    <p:extLst>
      <p:ext uri="{BB962C8B-B14F-4D97-AF65-F5344CB8AC3E}">
        <p14:creationId xmlns:p14="http://schemas.microsoft.com/office/powerpoint/2010/main" val="1741187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7D89FB-6AE0-4387-B7C5-B6BE39BA7579}"/>
              </a:ext>
            </a:extLst>
          </p:cNvPr>
          <p:cNvSpPr>
            <a:spLocks noGrp="1"/>
          </p:cNvSpPr>
          <p:nvPr>
            <p:ph type="title"/>
          </p:nvPr>
        </p:nvSpPr>
        <p:spPr>
          <a:xfrm>
            <a:off x="1227655" y="1586484"/>
            <a:ext cx="3685032" cy="3685032"/>
          </a:xfrm>
          <a:prstGeom prst="ellipse">
            <a:avLst/>
          </a:prstGeom>
          <a:solidFill>
            <a:schemeClr val="accent2">
              <a:lumMod val="75000"/>
            </a:schemeClr>
          </a:solidFill>
          <a:ln>
            <a:noFill/>
          </a:ln>
        </p:spPr>
        <p:txBody>
          <a:bodyPr>
            <a:normAutofit/>
          </a:bodyPr>
          <a:lstStyle/>
          <a:p>
            <a:r>
              <a:rPr lang="en-IN" sz="3000" dirty="0">
                <a:solidFill>
                  <a:srgbClr val="FFFFFF"/>
                </a:solidFill>
              </a:rPr>
              <a:t>Solution Design</a:t>
            </a:r>
          </a:p>
        </p:txBody>
      </p:sp>
      <p:sp>
        <p:nvSpPr>
          <p:cNvPr id="3" name="Content Placeholder 2">
            <a:extLst>
              <a:ext uri="{FF2B5EF4-FFF2-40B4-BE49-F238E27FC236}">
                <a16:creationId xmlns:a16="http://schemas.microsoft.com/office/drawing/2014/main" id="{6E77542C-676C-4616-8042-1D07436B8F46}"/>
              </a:ext>
            </a:extLst>
          </p:cNvPr>
          <p:cNvSpPr>
            <a:spLocks noGrp="1"/>
          </p:cNvSpPr>
          <p:nvPr>
            <p:ph idx="1"/>
          </p:nvPr>
        </p:nvSpPr>
        <p:spPr>
          <a:xfrm>
            <a:off x="5591695" y="1402080"/>
            <a:ext cx="5320696" cy="4053840"/>
          </a:xfrm>
        </p:spPr>
        <p:txBody>
          <a:bodyPr anchor="ctr"/>
          <a:lstStyle/>
          <a:p>
            <a:r>
              <a:rPr lang="en-US" b="1" dirty="0"/>
              <a:t>Data Preparation</a:t>
            </a:r>
            <a:r>
              <a:rPr lang="en-US" dirty="0"/>
              <a:t> – Cleaned and structured raw </a:t>
            </a:r>
            <a:r>
              <a:rPr lang="en-US" dirty="0" smtClean="0"/>
              <a:t>data.</a:t>
            </a:r>
          </a:p>
          <a:p>
            <a:r>
              <a:rPr lang="en-US" b="1" dirty="0"/>
              <a:t>Data Modeling</a:t>
            </a:r>
            <a:r>
              <a:rPr lang="en-US" dirty="0"/>
              <a:t> – Established relationships between </a:t>
            </a:r>
            <a:r>
              <a:rPr lang="en-US" dirty="0" smtClean="0"/>
              <a:t>tables.</a:t>
            </a:r>
          </a:p>
          <a:p>
            <a:r>
              <a:rPr lang="en-US" b="1" dirty="0"/>
              <a:t>KPI Development</a:t>
            </a:r>
            <a:r>
              <a:rPr lang="en-US" dirty="0"/>
              <a:t> – Created productivity and automation </a:t>
            </a:r>
            <a:r>
              <a:rPr lang="en-US" dirty="0" smtClean="0"/>
              <a:t>metrics.</a:t>
            </a:r>
          </a:p>
          <a:p>
            <a:r>
              <a:rPr lang="en-US" b="1" dirty="0"/>
              <a:t>Visualization Layer</a:t>
            </a:r>
            <a:r>
              <a:rPr lang="en-US" dirty="0"/>
              <a:t> – Designed interactive charts &amp; KPI </a:t>
            </a:r>
            <a:r>
              <a:rPr lang="en-US" dirty="0" smtClean="0"/>
              <a:t>cards.</a:t>
            </a:r>
          </a:p>
          <a:p>
            <a:r>
              <a:rPr lang="en-US" b="1" dirty="0"/>
              <a:t>Insight Generation</a:t>
            </a:r>
            <a:r>
              <a:rPr lang="en-US" dirty="0"/>
              <a:t> – Enabled performance analysis and filtering</a:t>
            </a:r>
            <a:endParaRPr lang="en-IN" dirty="0"/>
          </a:p>
        </p:txBody>
      </p:sp>
    </p:spTree>
    <p:extLst>
      <p:ext uri="{BB962C8B-B14F-4D97-AF65-F5344CB8AC3E}">
        <p14:creationId xmlns:p14="http://schemas.microsoft.com/office/powerpoint/2010/main" val="308195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2218D5-F128-490E-8152-7D32E2A4AAF2}"/>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sz="2100" dirty="0">
                <a:solidFill>
                  <a:srgbClr val="FFFFFF"/>
                </a:solidFill>
              </a:rPr>
              <a:t>Technology Stack &amp; Requirements</a:t>
            </a:r>
          </a:p>
        </p:txBody>
      </p:sp>
      <p:sp>
        <p:nvSpPr>
          <p:cNvPr id="3" name="Content Placeholder 2">
            <a:extLst>
              <a:ext uri="{FF2B5EF4-FFF2-40B4-BE49-F238E27FC236}">
                <a16:creationId xmlns:a16="http://schemas.microsoft.com/office/drawing/2014/main" id="{D937833B-3907-4B83-9F77-D0F494B71546}"/>
              </a:ext>
            </a:extLst>
          </p:cNvPr>
          <p:cNvSpPr>
            <a:spLocks noGrp="1"/>
          </p:cNvSpPr>
          <p:nvPr>
            <p:ph idx="1"/>
          </p:nvPr>
        </p:nvSpPr>
        <p:spPr>
          <a:xfrm>
            <a:off x="5591695" y="642551"/>
            <a:ext cx="5320696" cy="4813369"/>
          </a:xfrm>
        </p:spPr>
        <p:txBody>
          <a:bodyPr anchor="ctr">
            <a:normAutofit fontScale="85000" lnSpcReduction="20000"/>
          </a:bodyPr>
          <a:lstStyle/>
          <a:p>
            <a:endParaRPr lang="en-IN" sz="1200" b="1" dirty="0" smtClean="0"/>
          </a:p>
          <a:p>
            <a:endParaRPr lang="en-IN" sz="1200" b="1" dirty="0"/>
          </a:p>
          <a:p>
            <a:r>
              <a:rPr lang="en-IN" sz="1700" b="1" dirty="0" smtClean="0"/>
              <a:t>1 . </a:t>
            </a:r>
            <a:r>
              <a:rPr lang="en-IN" sz="1700" b="1" dirty="0"/>
              <a:t>Software </a:t>
            </a:r>
            <a:r>
              <a:rPr lang="en-IN" sz="1700" b="1" dirty="0" smtClean="0"/>
              <a:t>Used</a:t>
            </a:r>
          </a:p>
          <a:p>
            <a:r>
              <a:rPr lang="en-US" sz="1700" b="1" dirty="0"/>
              <a:t>Power BI Desktop</a:t>
            </a:r>
            <a:r>
              <a:rPr lang="en-US" sz="1700" dirty="0"/>
              <a:t> – Dashboard creation &amp; data </a:t>
            </a:r>
            <a:r>
              <a:rPr lang="en-US" sz="1700" dirty="0" smtClean="0"/>
              <a:t>visualization</a:t>
            </a:r>
          </a:p>
          <a:p>
            <a:r>
              <a:rPr lang="en-IN" sz="1700" b="1" dirty="0"/>
              <a:t>Microsoft Excel / CSV File</a:t>
            </a:r>
            <a:r>
              <a:rPr lang="en-IN" sz="1700" dirty="0"/>
              <a:t> – Dataset storage &amp; </a:t>
            </a:r>
            <a:r>
              <a:rPr lang="en-IN" sz="1700" dirty="0" smtClean="0"/>
              <a:t>cleaning</a:t>
            </a:r>
          </a:p>
          <a:p>
            <a:r>
              <a:rPr lang="en-IN" sz="1700" b="1" dirty="0"/>
              <a:t>Microsoft PowerPoint</a:t>
            </a:r>
            <a:r>
              <a:rPr lang="en-IN" sz="1700" dirty="0"/>
              <a:t> – Presentation creation</a:t>
            </a:r>
          </a:p>
          <a:p>
            <a:r>
              <a:rPr lang="en-IN" sz="1700" b="1" dirty="0"/>
              <a:t>2. Tools &amp; </a:t>
            </a:r>
            <a:r>
              <a:rPr lang="en-IN" sz="1700" b="1" dirty="0" smtClean="0"/>
              <a:t>Technologies</a:t>
            </a:r>
          </a:p>
          <a:p>
            <a:r>
              <a:rPr lang="en-US" sz="1700" dirty="0"/>
              <a:t>Data Cleaning &amp; Transformation (Power Query</a:t>
            </a:r>
            <a:r>
              <a:rPr lang="en-US" sz="1700" dirty="0" smtClean="0"/>
              <a:t>), </a:t>
            </a:r>
            <a:r>
              <a:rPr lang="en-IN" sz="1700" dirty="0" smtClean="0"/>
              <a:t> </a:t>
            </a:r>
            <a:r>
              <a:rPr lang="en-IN" sz="1700" dirty="0"/>
              <a:t>DAX (Data Analysis Expressions</a:t>
            </a:r>
            <a:r>
              <a:rPr lang="en-IN" sz="1700" dirty="0" smtClean="0"/>
              <a:t>),  </a:t>
            </a:r>
            <a:r>
              <a:rPr lang="en-IN" sz="1700" dirty="0"/>
              <a:t>KPI Cards &amp; </a:t>
            </a:r>
            <a:r>
              <a:rPr lang="en-IN" sz="1700" dirty="0" smtClean="0"/>
              <a:t>Visualizations , Slicers </a:t>
            </a:r>
            <a:r>
              <a:rPr lang="en-IN" sz="1700" dirty="0"/>
              <a:t>&amp; </a:t>
            </a:r>
            <a:r>
              <a:rPr lang="en-IN" sz="1700" dirty="0" smtClean="0"/>
              <a:t>Filters,  Gauge </a:t>
            </a:r>
            <a:r>
              <a:rPr lang="en-IN" sz="1700" dirty="0"/>
              <a:t>Charts &amp; Pie </a:t>
            </a:r>
            <a:r>
              <a:rPr lang="en-IN" sz="1700" dirty="0" smtClean="0"/>
              <a:t>Charts , Bar </a:t>
            </a:r>
            <a:r>
              <a:rPr lang="en-IN" sz="1700" dirty="0"/>
              <a:t>Charts &amp; Scatter </a:t>
            </a:r>
            <a:r>
              <a:rPr lang="en-IN" sz="1700" dirty="0" smtClean="0"/>
              <a:t>Plots</a:t>
            </a:r>
          </a:p>
          <a:p>
            <a:r>
              <a:rPr lang="en-IN" sz="1700" b="1" dirty="0"/>
              <a:t>3. System </a:t>
            </a:r>
            <a:r>
              <a:rPr lang="en-IN" sz="1700" b="1" dirty="0" smtClean="0"/>
              <a:t>Requirements</a:t>
            </a:r>
          </a:p>
          <a:p>
            <a:r>
              <a:rPr lang="en-IN" sz="1700" dirty="0"/>
              <a:t>Windows 10 / Windows </a:t>
            </a:r>
            <a:r>
              <a:rPr lang="en-IN" sz="1700" dirty="0" smtClean="0"/>
              <a:t>11, Minimum </a:t>
            </a:r>
            <a:r>
              <a:rPr lang="en-IN" sz="1700" dirty="0"/>
              <a:t>4GB RAM (8GB recommended</a:t>
            </a:r>
            <a:r>
              <a:rPr lang="en-IN" sz="1700" dirty="0" smtClean="0"/>
              <a:t>)</a:t>
            </a:r>
          </a:p>
          <a:p>
            <a:r>
              <a:rPr lang="en-IN" sz="1700" b="1" dirty="0"/>
              <a:t>4. Skills </a:t>
            </a:r>
            <a:r>
              <a:rPr lang="en-IN" sz="1700" b="1" dirty="0" smtClean="0"/>
              <a:t>Required</a:t>
            </a:r>
          </a:p>
          <a:p>
            <a:r>
              <a:rPr lang="en-US" altLang="en-US" sz="1700" dirty="0">
                <a:solidFill>
                  <a:schemeClr val="tx1"/>
                </a:solidFill>
                <a:latin typeface="Arial" panose="020B0604020202020204" pitchFamily="34" charset="0"/>
              </a:rPr>
              <a:t>Basic Data Analysis </a:t>
            </a:r>
            <a:r>
              <a:rPr lang="en-US" altLang="en-US" sz="1700" dirty="0" smtClean="0">
                <a:solidFill>
                  <a:schemeClr val="tx1"/>
                </a:solidFill>
                <a:latin typeface="Arial" panose="020B0604020202020204" pitchFamily="34" charset="0"/>
              </a:rPr>
              <a:t>Knowledge,  </a:t>
            </a:r>
            <a:r>
              <a:rPr lang="en-US" altLang="en-US" sz="1700" dirty="0">
                <a:solidFill>
                  <a:schemeClr val="tx1"/>
                </a:solidFill>
                <a:latin typeface="Arial" panose="020B0604020202020204" pitchFamily="34" charset="0"/>
              </a:rPr>
              <a:t>Understanding of KPIs</a:t>
            </a:r>
          </a:p>
          <a:p>
            <a:pPr lvl="0"/>
            <a:r>
              <a:rPr lang="en-IN" sz="1700" b="1" dirty="0"/>
              <a:t>5. Data </a:t>
            </a:r>
            <a:r>
              <a:rPr lang="en-IN" sz="1700" b="1" dirty="0" smtClean="0"/>
              <a:t>Requirements</a:t>
            </a:r>
          </a:p>
          <a:p>
            <a:r>
              <a:rPr lang="en-IN" sz="1700" dirty="0"/>
              <a:t>Employee productivity </a:t>
            </a:r>
            <a:r>
              <a:rPr lang="en-IN" sz="1700" dirty="0" smtClean="0"/>
              <a:t>dataset , Focus </a:t>
            </a:r>
            <a:r>
              <a:rPr lang="en-IN" sz="1700" dirty="0"/>
              <a:t>hours </a:t>
            </a:r>
            <a:r>
              <a:rPr lang="en-IN" sz="1700" dirty="0" smtClean="0"/>
              <a:t>data Automation, records Burnout </a:t>
            </a:r>
            <a:r>
              <a:rPr lang="en-IN" sz="1700" dirty="0"/>
              <a:t>&amp; work-life balance data</a:t>
            </a:r>
          </a:p>
          <a:p>
            <a:pPr lvl="0"/>
            <a:endParaRPr lang="en-US" altLang="en-US" dirty="0">
              <a:solidFill>
                <a:schemeClr val="tx1"/>
              </a:solidFill>
              <a:latin typeface="Arial" panose="020B0604020202020204" pitchFamily="34" charset="0"/>
            </a:endParaRPr>
          </a:p>
          <a:p>
            <a:endParaRPr lang="en-IN" dirty="0" smtClean="0"/>
          </a:p>
          <a:p>
            <a:endParaRPr lang="en-IN" b="1" dirty="0"/>
          </a:p>
        </p:txBody>
      </p:sp>
    </p:spTree>
    <p:extLst>
      <p:ext uri="{BB962C8B-B14F-4D97-AF65-F5344CB8AC3E}">
        <p14:creationId xmlns:p14="http://schemas.microsoft.com/office/powerpoint/2010/main" val="496619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descr="Five bulbs and one of them is glowing">
            <a:extLst>
              <a:ext uri="{FF2B5EF4-FFF2-40B4-BE49-F238E27FC236}">
                <a16:creationId xmlns:a16="http://schemas.microsoft.com/office/drawing/2014/main" id="{6502B327-023B-19C1-2A07-58822C3EC950}"/>
              </a:ext>
            </a:extLst>
          </p:cNvPr>
          <p:cNvPicPr>
            <a:picLocks noChangeAspect="1"/>
          </p:cNvPicPr>
          <p:nvPr/>
        </p:nvPicPr>
        <p:blipFill>
          <a:blip r:embed="rId2"/>
          <a:srcRect l="20348" r="20317" b="-1"/>
          <a:stretch/>
        </p:blipFill>
        <p:spPr>
          <a:xfrm>
            <a:off x="642" y="10"/>
            <a:ext cx="6096000" cy="6857990"/>
          </a:xfrm>
          <a:prstGeom prst="rect">
            <a:avLst/>
          </a:prstGeom>
        </p:spPr>
      </p:pic>
      <p:sp>
        <p:nvSpPr>
          <p:cNvPr id="2" name="Title 1">
            <a:extLst>
              <a:ext uri="{FF2B5EF4-FFF2-40B4-BE49-F238E27FC236}">
                <a16:creationId xmlns:a16="http://schemas.microsoft.com/office/drawing/2014/main" id="{7AED9BD6-F510-4FEC-BBC3-026270D71F4F}"/>
              </a:ext>
            </a:extLst>
          </p:cNvPr>
          <p:cNvSpPr>
            <a:spLocks noGrp="1"/>
          </p:cNvSpPr>
          <p:nvPr>
            <p:ph type="title"/>
          </p:nvPr>
        </p:nvSpPr>
        <p:spPr>
          <a:xfrm>
            <a:off x="804672" y="2841505"/>
            <a:ext cx="4487298" cy="1174991"/>
          </a:xfrm>
          <a:solidFill>
            <a:schemeClr val="tx1">
              <a:alpha val="60000"/>
            </a:schemeClr>
          </a:solidFill>
          <a:ln>
            <a:solidFill>
              <a:schemeClr val="bg1"/>
            </a:solidFill>
          </a:ln>
        </p:spPr>
        <p:txBody>
          <a:bodyPr>
            <a:normAutofit/>
          </a:bodyPr>
          <a:lstStyle/>
          <a:p>
            <a:r>
              <a:rPr lang="en-IN" sz="2400" dirty="0">
                <a:solidFill>
                  <a:schemeClr val="bg1"/>
                </a:solidFill>
              </a:rPr>
              <a:t>Innovative Idea</a:t>
            </a:r>
          </a:p>
        </p:txBody>
      </p:sp>
      <p:sp>
        <p:nvSpPr>
          <p:cNvPr id="3" name="Content Placeholder 2">
            <a:extLst>
              <a:ext uri="{FF2B5EF4-FFF2-40B4-BE49-F238E27FC236}">
                <a16:creationId xmlns:a16="http://schemas.microsoft.com/office/drawing/2014/main" id="{9644AC4F-2932-4F44-A84F-2F39667FE8D6}"/>
              </a:ext>
            </a:extLst>
          </p:cNvPr>
          <p:cNvSpPr>
            <a:spLocks noGrp="1"/>
          </p:cNvSpPr>
          <p:nvPr>
            <p:ph idx="1"/>
          </p:nvPr>
        </p:nvSpPr>
        <p:spPr>
          <a:xfrm>
            <a:off x="6743941" y="976129"/>
            <a:ext cx="4804931" cy="4919815"/>
          </a:xfrm>
        </p:spPr>
        <p:txBody>
          <a:bodyPr anchor="ctr"/>
          <a:lstStyle/>
          <a:p>
            <a:r>
              <a:rPr lang="en-US" dirty="0"/>
              <a:t>This project introduces an AI-driven workplace productivity model that transforms raw employee data into meaningful and actionable insights. Unlike traditional productivity systems that only measure output, this dashboard integrates automation levels, focus hours, burnout risk, and work-life balance to provide a comprehensive performance evaluation</a:t>
            </a:r>
            <a:r>
              <a:rPr lang="en-US" dirty="0" smtClean="0"/>
              <a:t>.</a:t>
            </a:r>
          </a:p>
          <a:p>
            <a:r>
              <a:rPr lang="en-US" dirty="0" smtClean="0"/>
              <a:t> </a:t>
            </a:r>
            <a:r>
              <a:rPr lang="en-US" dirty="0"/>
              <a:t>It promotes a balanced and intelligent work environment by combining efficiency with employee </a:t>
            </a:r>
            <a:r>
              <a:rPr lang="en-US" dirty="0" smtClean="0"/>
              <a:t>well-being.</a:t>
            </a:r>
            <a:endParaRPr lang="en-IN" dirty="0"/>
          </a:p>
        </p:txBody>
      </p:sp>
    </p:spTree>
    <p:extLst>
      <p:ext uri="{BB962C8B-B14F-4D97-AF65-F5344CB8AC3E}">
        <p14:creationId xmlns:p14="http://schemas.microsoft.com/office/powerpoint/2010/main" val="3463141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EEA8E4-2B1A-430A-A41B-30AE8D1A7E78}"/>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dirty="0">
                <a:solidFill>
                  <a:srgbClr val="FFFFFF"/>
                </a:solidFill>
              </a:rPr>
              <a:t>Results / Outcomes / Analysis</a:t>
            </a:r>
          </a:p>
        </p:txBody>
      </p:sp>
      <p:sp>
        <p:nvSpPr>
          <p:cNvPr id="3" name="Content Placeholder 2">
            <a:extLst>
              <a:ext uri="{FF2B5EF4-FFF2-40B4-BE49-F238E27FC236}">
                <a16:creationId xmlns:a16="http://schemas.microsoft.com/office/drawing/2014/main" id="{FF997BAE-B1B3-43F5-817C-987B4C2A3BFF}"/>
              </a:ext>
            </a:extLst>
          </p:cNvPr>
          <p:cNvSpPr>
            <a:spLocks noGrp="1"/>
          </p:cNvSpPr>
          <p:nvPr>
            <p:ph idx="1"/>
          </p:nvPr>
        </p:nvSpPr>
        <p:spPr>
          <a:xfrm>
            <a:off x="5591695" y="1402080"/>
            <a:ext cx="5320696" cy="4053840"/>
          </a:xfrm>
        </p:spPr>
        <p:txBody>
          <a:bodyPr anchor="ctr">
            <a:normAutofit lnSpcReduction="10000"/>
          </a:bodyPr>
          <a:lstStyle/>
          <a:p>
            <a:r>
              <a:rPr lang="en-US" dirty="0">
                <a:latin typeface="Times New Roman" panose="02020603050405020304" pitchFamily="18" charset="0"/>
                <a:cs typeface="Times New Roman" panose="02020603050405020304" pitchFamily="18" charset="0"/>
              </a:rPr>
              <a:t>This project successfully analyzes workplace productivity using AI-based insights and data visualization techniques. The results show that automation significantly reduces manual workload and increases overall efficiency</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analysis also highlights that burnout risk negatively impacts work-life balance and overall employee performance. Through dynamic filters and KPI monitoring, the dashboard enables organizations to identify productivity gaps and optimize resource allocation. Overall, the outcomes demonstrate that integrating AI tools in the workplace enhances performance, supports employee well-being, and enables data-driven decision-making for sustainable growth.</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0655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descr="A group of yellow figures and a red figure on the other side">
            <a:extLst>
              <a:ext uri="{FF2B5EF4-FFF2-40B4-BE49-F238E27FC236}">
                <a16:creationId xmlns:a16="http://schemas.microsoft.com/office/drawing/2014/main" id="{AF55747E-0BF5-40C6-D4AD-0FF058921801}"/>
              </a:ext>
            </a:extLst>
          </p:cNvPr>
          <p:cNvPicPr>
            <a:picLocks noChangeAspect="1"/>
          </p:cNvPicPr>
          <p:nvPr/>
        </p:nvPicPr>
        <p:blipFill>
          <a:blip r:embed="rId2"/>
          <a:srcRect l="38644" r="2022" b="-1"/>
          <a:stretch/>
        </p:blipFill>
        <p:spPr>
          <a:xfrm>
            <a:off x="642" y="10"/>
            <a:ext cx="6096000" cy="6857990"/>
          </a:xfrm>
          <a:prstGeom prst="rect">
            <a:avLst/>
          </a:prstGeom>
        </p:spPr>
      </p:pic>
      <p:sp>
        <p:nvSpPr>
          <p:cNvPr id="2" name="Title 1">
            <a:extLst>
              <a:ext uri="{FF2B5EF4-FFF2-40B4-BE49-F238E27FC236}">
                <a16:creationId xmlns:a16="http://schemas.microsoft.com/office/drawing/2014/main" id="{9B5131FA-8D36-492B-8E16-2BB465AADDDF}"/>
              </a:ext>
            </a:extLst>
          </p:cNvPr>
          <p:cNvSpPr>
            <a:spLocks noGrp="1"/>
          </p:cNvSpPr>
          <p:nvPr>
            <p:ph type="title"/>
          </p:nvPr>
        </p:nvSpPr>
        <p:spPr>
          <a:xfrm>
            <a:off x="804672" y="2841505"/>
            <a:ext cx="4487298" cy="1174991"/>
          </a:xfrm>
          <a:solidFill>
            <a:schemeClr val="tx1">
              <a:alpha val="60000"/>
            </a:schemeClr>
          </a:solidFill>
          <a:ln>
            <a:solidFill>
              <a:schemeClr val="bg1"/>
            </a:solidFill>
          </a:ln>
        </p:spPr>
        <p:txBody>
          <a:bodyPr>
            <a:normAutofit/>
          </a:bodyPr>
          <a:lstStyle/>
          <a:p>
            <a:r>
              <a:rPr lang="en-IN" sz="2400" dirty="0">
                <a:solidFill>
                  <a:schemeClr val="bg1"/>
                </a:solidFill>
              </a:rPr>
              <a:t>Limitations</a:t>
            </a:r>
          </a:p>
        </p:txBody>
      </p:sp>
      <p:sp>
        <p:nvSpPr>
          <p:cNvPr id="3" name="Content Placeholder 2">
            <a:extLst>
              <a:ext uri="{FF2B5EF4-FFF2-40B4-BE49-F238E27FC236}">
                <a16:creationId xmlns:a16="http://schemas.microsoft.com/office/drawing/2014/main" id="{B2658A8F-6943-4E76-8967-55B21E8D3429}"/>
              </a:ext>
            </a:extLst>
          </p:cNvPr>
          <p:cNvSpPr>
            <a:spLocks noGrp="1"/>
          </p:cNvSpPr>
          <p:nvPr>
            <p:ph idx="1"/>
          </p:nvPr>
        </p:nvSpPr>
        <p:spPr>
          <a:xfrm>
            <a:off x="6743941" y="976129"/>
            <a:ext cx="4804931" cy="4919815"/>
          </a:xfrm>
        </p:spPr>
        <p:txBody>
          <a:bodyPr anchor="ctr"/>
          <a:lstStyle/>
          <a:p>
            <a:r>
              <a:rPr lang="en-US" dirty="0">
                <a:latin typeface="Times New Roman" panose="02020603050405020304" pitchFamily="18" charset="0"/>
                <a:cs typeface="Times New Roman" panose="02020603050405020304" pitchFamily="18" charset="0"/>
              </a:rPr>
              <a:t>This dashboard depends on the accuracy and completeness of the dataset, so incorrect or missing data may affect results. It provides analytical insights but does not include real-time AI predictions or automated decision-making. Human factors like burnout and work-life balance cannot be measured with complete accuracy using only numerical data. Additionally, it is not yet integrated with live HR or real-time monitoring systems.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759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131FA-8D36-492B-8E16-2BB465AADDDF}"/>
              </a:ext>
            </a:extLst>
          </p:cNvPr>
          <p:cNvSpPr>
            <a:spLocks noGrp="1"/>
          </p:cNvSpPr>
          <p:nvPr>
            <p:ph type="title"/>
          </p:nvPr>
        </p:nvSpPr>
        <p:spPr>
          <a:xfrm>
            <a:off x="5445496" y="978776"/>
            <a:ext cx="5925310" cy="1174991"/>
          </a:xfrm>
        </p:spPr>
        <p:txBody>
          <a:bodyPr>
            <a:normAutofit/>
          </a:bodyPr>
          <a:lstStyle/>
          <a:p>
            <a:r>
              <a:rPr lang="en-IN" sz="2400" dirty="0"/>
              <a:t>Future Enhancements/Scope</a:t>
            </a:r>
          </a:p>
        </p:txBody>
      </p:sp>
      <p:pic>
        <p:nvPicPr>
          <p:cNvPr id="5" name="Picture 4" descr="White arrows going to the red target">
            <a:extLst>
              <a:ext uri="{FF2B5EF4-FFF2-40B4-BE49-F238E27FC236}">
                <a16:creationId xmlns:a16="http://schemas.microsoft.com/office/drawing/2014/main" id="{A3EA6280-589F-C0E2-BE2F-BC5FC4617615}"/>
              </a:ext>
            </a:extLst>
          </p:cNvPr>
          <p:cNvPicPr>
            <a:picLocks noChangeAspect="1"/>
          </p:cNvPicPr>
          <p:nvPr/>
        </p:nvPicPr>
        <p:blipFill>
          <a:blip r:embed="rId2"/>
          <a:srcRect l="45161" r="9508" b="-1"/>
          <a:stretch/>
        </p:blipFill>
        <p:spPr>
          <a:xfrm>
            <a:off x="20" y="10"/>
            <a:ext cx="4657325" cy="6857990"/>
          </a:xfrm>
          <a:prstGeom prst="rect">
            <a:avLst/>
          </a:prstGeom>
        </p:spPr>
      </p:pic>
      <p:sp>
        <p:nvSpPr>
          <p:cNvPr id="3" name="Content Placeholder 2">
            <a:extLst>
              <a:ext uri="{FF2B5EF4-FFF2-40B4-BE49-F238E27FC236}">
                <a16:creationId xmlns:a16="http://schemas.microsoft.com/office/drawing/2014/main" id="{B2658A8F-6943-4E76-8967-55B21E8D3429}"/>
              </a:ext>
            </a:extLst>
          </p:cNvPr>
          <p:cNvSpPr>
            <a:spLocks noGrp="1"/>
          </p:cNvSpPr>
          <p:nvPr>
            <p:ph idx="1"/>
          </p:nvPr>
        </p:nvSpPr>
        <p:spPr>
          <a:xfrm>
            <a:off x="5445496" y="2640692"/>
            <a:ext cx="5925310" cy="3255252"/>
          </a:xfrm>
        </p:spPr>
        <p:txBody>
          <a:bodyPr/>
          <a:lstStyle/>
          <a:p>
            <a:r>
              <a:rPr lang="en-US" dirty="0"/>
              <a:t>🔹 Integration with real-time HR and project management </a:t>
            </a:r>
            <a:r>
              <a:rPr lang="en-US" dirty="0" smtClean="0"/>
              <a:t>systems</a:t>
            </a:r>
          </a:p>
          <a:p>
            <a:r>
              <a:rPr lang="en-US" dirty="0"/>
              <a:t>🔹 AI-based predictive analytics for burnout and productivity </a:t>
            </a:r>
            <a:r>
              <a:rPr lang="en-US" dirty="0" smtClean="0"/>
              <a:t>forecasting</a:t>
            </a:r>
          </a:p>
          <a:p>
            <a:r>
              <a:rPr lang="en-IN" dirty="0"/>
              <a:t>🔹 Automated performance improvement </a:t>
            </a:r>
            <a:r>
              <a:rPr lang="en-IN" dirty="0" smtClean="0"/>
              <a:t>recommendations</a:t>
            </a:r>
          </a:p>
          <a:p>
            <a:r>
              <a:rPr lang="en-US" dirty="0"/>
              <a:t>🔹 Smart workload balancing </a:t>
            </a:r>
            <a:r>
              <a:rPr lang="en-US" dirty="0" smtClean="0"/>
              <a:t>system Cloud </a:t>
            </a:r>
            <a:r>
              <a:rPr lang="en-US" dirty="0"/>
              <a:t>integration for </a:t>
            </a:r>
            <a:r>
              <a:rPr lang="en-US" dirty="0" smtClean="0"/>
              <a:t>scalability</a:t>
            </a:r>
          </a:p>
          <a:p>
            <a:r>
              <a:rPr lang="en-US" dirty="0"/>
              <a:t>🔹 Mobile accessibility for real-time monitoring</a:t>
            </a:r>
            <a:endParaRPr lang="en-IN" dirty="0"/>
          </a:p>
        </p:txBody>
      </p:sp>
    </p:spTree>
    <p:extLst>
      <p:ext uri="{BB962C8B-B14F-4D97-AF65-F5344CB8AC3E}">
        <p14:creationId xmlns:p14="http://schemas.microsoft.com/office/powerpoint/2010/main" val="816418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3E1C3D-633C-4756-B09B-9AD080714C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668" y="640080"/>
            <a:ext cx="10915252" cy="5263134"/>
          </a:xfrm>
          <a:prstGeom prst="rect">
            <a:avLst/>
          </a:prstGeom>
          <a:noFill/>
          <a:ln w="317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95DAF8-54BC-4834-A4B1-7DD2F7AFE5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520" y="802767"/>
            <a:ext cx="10585166" cy="49377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5131FA-8D36-492B-8E16-2BB465AADDDF}"/>
              </a:ext>
            </a:extLst>
          </p:cNvPr>
          <p:cNvSpPr>
            <a:spLocks noGrp="1"/>
          </p:cNvSpPr>
          <p:nvPr>
            <p:ph type="title"/>
          </p:nvPr>
        </p:nvSpPr>
        <p:spPr>
          <a:xfrm>
            <a:off x="1120624" y="1122807"/>
            <a:ext cx="9954443" cy="4297680"/>
          </a:xfrm>
          <a:noFill/>
          <a:ln>
            <a:noFill/>
          </a:ln>
        </p:spPr>
        <p:txBody>
          <a:bodyPr vert="horz" lIns="182880" tIns="182880" rIns="182880" bIns="182880" rtlCol="0" anchor="ctr">
            <a:noAutofit/>
          </a:bodyPr>
          <a:lstStyle/>
          <a:p>
            <a:r>
              <a:rPr lang="en-US" sz="4800" kern="1200" cap="all" spc="200" baseline="0" dirty="0" smtClean="0">
                <a:solidFill>
                  <a:srgbClr val="7030A0"/>
                </a:solidFill>
                <a:latin typeface="+mj-lt"/>
                <a:ea typeface="+mj-ea"/>
                <a:cs typeface="+mj-cs"/>
              </a:rPr>
              <a:t>The</a:t>
            </a:r>
            <a:r>
              <a:rPr lang="en-US" sz="4800" kern="1200" cap="all" spc="200" dirty="0" smtClean="0">
                <a:solidFill>
                  <a:srgbClr val="7030A0"/>
                </a:solidFill>
                <a:latin typeface="+mj-lt"/>
                <a:ea typeface="+mj-ea"/>
                <a:cs typeface="+mj-cs"/>
              </a:rPr>
              <a:t> </a:t>
            </a:r>
            <a:r>
              <a:rPr lang="en-US" sz="4800" kern="1200" cap="all" spc="200" dirty="0" err="1" smtClean="0">
                <a:solidFill>
                  <a:srgbClr val="7030A0"/>
                </a:solidFill>
                <a:latin typeface="+mj-lt"/>
                <a:ea typeface="+mj-ea"/>
                <a:cs typeface="+mj-cs"/>
              </a:rPr>
              <a:t>Github</a:t>
            </a:r>
            <a:r>
              <a:rPr lang="en-US" sz="4800" kern="1200" cap="all" spc="200" baseline="0" dirty="0">
                <a:solidFill>
                  <a:srgbClr val="7030A0"/>
                </a:solidFill>
              </a:rPr>
              <a:t/>
            </a:r>
            <a:br>
              <a:rPr lang="en-US" sz="4800" kern="1200" cap="all" spc="200" baseline="0" dirty="0">
                <a:solidFill>
                  <a:srgbClr val="7030A0"/>
                </a:solidFill>
              </a:rPr>
            </a:br>
            <a:r>
              <a:rPr lang="en-US" dirty="0" smtClean="0">
                <a:solidFill>
                  <a:srgbClr val="FFFFFF"/>
                </a:solidFill>
              </a:rPr>
              <a:t>https</a:t>
            </a:r>
            <a:r>
              <a:rPr lang="en-US" dirty="0">
                <a:solidFill>
                  <a:srgbClr val="FFFFFF"/>
                </a:solidFill>
              </a:rPr>
              <a:t>://github.com/KashishGautam31/-AI-Workplace-Productivity</a:t>
            </a:r>
            <a:endParaRPr lang="en-US" kern="1200" cap="all" spc="200" baseline="0" dirty="0">
              <a:solidFill>
                <a:srgbClr val="FFFFFF"/>
              </a:solidFill>
            </a:endParaRPr>
          </a:p>
        </p:txBody>
      </p:sp>
    </p:spTree>
    <p:extLst>
      <p:ext uri="{BB962C8B-B14F-4D97-AF65-F5344CB8AC3E}">
        <p14:creationId xmlns:p14="http://schemas.microsoft.com/office/powerpoint/2010/main" val="29007037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2A9291-55AD-4DDC-8735-1BA5A1C98CC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8A74F5-46D6-41B8-88F6-8920EDCB47B2}"/>
              </a:ext>
            </a:extLst>
          </p:cNvPr>
          <p:cNvSpPr>
            <a:spLocks noGrp="1"/>
          </p:cNvSpPr>
          <p:nvPr>
            <p:ph type="title"/>
          </p:nvPr>
        </p:nvSpPr>
        <p:spPr>
          <a:xfrm>
            <a:off x="1752600" y="2542604"/>
            <a:ext cx="8686800" cy="1772793"/>
          </a:xfrm>
          <a:solidFill>
            <a:srgbClr val="FFFFFF"/>
          </a:solidFill>
          <a:ln>
            <a:solidFill>
              <a:srgbClr val="404040"/>
            </a:solidFill>
          </a:ln>
        </p:spPr>
        <p:txBody>
          <a:bodyPr vert="horz" wrap="square" lIns="182880" tIns="182880" rIns="182880" bIns="182880" rtlCol="0" anchor="ctr">
            <a:normAutofit/>
          </a:bodyPr>
          <a:lstStyle/>
          <a:p>
            <a:r>
              <a:rPr lang="en-US" sz="8800" kern="1200" cap="all" spc="200" baseline="0" dirty="0">
                <a:solidFill>
                  <a:srgbClr val="7030A0"/>
                </a:solidFill>
                <a:latin typeface="Algerian" panose="04020705040A02060702" pitchFamily="82" charset="0"/>
              </a:rPr>
              <a:t>Thank You</a:t>
            </a:r>
          </a:p>
        </p:txBody>
      </p:sp>
    </p:spTree>
    <p:extLst>
      <p:ext uri="{BB962C8B-B14F-4D97-AF65-F5344CB8AC3E}">
        <p14:creationId xmlns:p14="http://schemas.microsoft.com/office/powerpoint/2010/main" val="372062179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otalTime>68</TotalTime>
  <Words>585</Words>
  <Application>Microsoft Office PowerPoint</Application>
  <PresentationFormat>Widescreen</PresentationFormat>
  <Paragraphs>58</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Algerian</vt:lpstr>
      <vt:lpstr>Arial</vt:lpstr>
      <vt:lpstr>Arial Narrow</vt:lpstr>
      <vt:lpstr>Arial Rounded MT Bold</vt:lpstr>
      <vt:lpstr>Baskerville Old Face</vt:lpstr>
      <vt:lpstr>Gill Sans MT</vt:lpstr>
      <vt:lpstr>Times New Roman</vt:lpstr>
      <vt:lpstr>Parcel</vt:lpstr>
      <vt:lpstr>AI Workplace Productivity</vt:lpstr>
      <vt:lpstr>The Background</vt:lpstr>
      <vt:lpstr>Problem Statement</vt:lpstr>
      <vt:lpstr>Proposed Solution</vt:lpstr>
      <vt:lpstr>Solution Design</vt:lpstr>
      <vt:lpstr>Technology Stack &amp; Requirements</vt:lpstr>
      <vt:lpstr>Innovative Idea</vt:lpstr>
      <vt:lpstr>Results / Outcomes / Analysis</vt:lpstr>
      <vt:lpstr>Limitations</vt:lpstr>
      <vt:lpstr>Future Enhancements/Scope</vt:lpstr>
      <vt:lpstr>The Github https://github.com/KashishGautam31/-AI-Workplace-Productivity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Prateek Vashishtha</dc:creator>
  <cp:lastModifiedBy>raj chaudhary</cp:lastModifiedBy>
  <cp:revision>101</cp:revision>
  <dcterms:created xsi:type="dcterms:W3CDTF">2021-11-25T04:17:35Z</dcterms:created>
  <dcterms:modified xsi:type="dcterms:W3CDTF">2026-02-24T04:27:18Z</dcterms:modified>
</cp:coreProperties>
</file>